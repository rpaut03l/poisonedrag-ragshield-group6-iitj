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 Success Rate (%)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E8ED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 Defense</c:v>
                  </c:pt>
                  <c:pt idx="1">
                    <c:v>Paper's Defenses</c:v>
                  </c:pt>
                  <c:pt idx="2">
                    <c:v>RAG-Shield 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29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E8ED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A3A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740"/>
        </a:solidFill>
        <a:ln>
          <a:noFill/>
        </a:ln>
        <a:effectLst/>
      </c:spPr>
    </c:plotArea>
    <c:plotVisOnly val="1"/>
    <c:dispBlanksAs val="span"/>
  </c:chart>
  <c:spPr>
    <a:solidFill>
      <a:srgbClr val="1B27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All / Rohit opens. This is the title slide. Hook line: 'How just 5 documents can fool a billion-parameter AI.' Introduce the paper (USENIX Security 2025) and our contribution (RAG-Shield). Note Jeenal at the top of the team as our inspiration. Keep this to ~20 seconds, then hand to Jeenal.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Jeenal. LLMs have two flaws: outdated knowledge and hallucination. RAG fixes both by fetching real documents before answering. Walk left-to-right through the 4-step pipeline. Land the open-book analogy clearly — it sets up the whole attack. End: 'what if someone slips a fake page in?' Hand to Amit.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Jeenal. Three beats: (1) RAG is in production at scale now, so security is not academic. (2) KBs are open and crowd-sourced. (3) That openness is exactly the attack surface. Final hand-off: 'Amit will now explain exactly what problem the attackers found.'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Set up the contrast: prior research focused on accuracy and efficiency — security was unexplored. The paper's insight is that the KB itself is a new attack surface. Emphasize the punchline: the attacker never touches the model. This is the first attack of its kind. Move to threat model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Walk the 4 cards: attacker chooses a target question, chooses the wrong answer they want, injects ~5 poison docs, and the LLM then outputs their answer. Then the two knowledge levels: black-box (only knows the question, very realistic) vs white-box (knows retriever internals). Hand to Sharvan: 'now HOW do they craft these texts?'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Amit. Make it concrete: medical, financial, news, enterprise — each a domain where a wrong answer causes real harm. Then list where poisoning happens in practice: editable wikis, scraped web, user uploads. Hand to Sharvan: 'now let's see HOW they craft the malicious texts.'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core mechanism. A poison doc must pass TWO tests at once: retrieval (similar enough to be fetched) and generation (convincing enough to mislead). Stress: failing either one kills the attack. This sets up the clever decomposition trick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elegant trick: each poison doc P = S + I. S is the retrieval trigger (the disguise that matches the question and gets retrieved). I is the injection (the payload with the misinformation). Use the Trojan-horse analogy — it lands every time. Then Slide 9 frames this as optimization. Hand to Sudeb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Sharvan. The paper frames poison-crafting as an optimization problem: find texts that maximize the chance of the target answer while staying retrievable. Two solvers depending on attacker knowledge: black-box (just the question, uses an LLM to write poison — realistic) and white-box (knows retriever, gradient optimization — upper bound). Hand to Sudeb for the deep dive and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Black-box is the realistic threat. Attacker knows only the question. The genius is simplicity: just ask an LLM to write a convincing passage supporting the wrong answer, embed the question's keywords for retrieval, inject ~5 copies. No gradients, no internal access. This is what makes it scary. Next: white-box for the upper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White-box: attacker also knows the retriever's weights and uses gradient optimization (HotFlip-style) to perfect the retrieval trigger. Slightly higher success, but needs unrealistic access. Its real value: it shows the upper bound. The takeaway for the audience — even the realistic black-box version is devastating, which we show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Sudeb. The headline: 90% attack success with just 5 poison docs hidden among millions of clean ones. Let the 90% land. Then stress generality — it works across many LLMs, retrievers, and datasets, so it's not a fluke. Hand to Kosuru: 'so can't we just defend against it? Turns out that's hard.'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The paper tests the obvious defenses: perplexity filtering, query paraphrasing, knowledge expansion. Present them neutrally here — these are what any engineer would try first. The next slide is the punchline: they all fail. Don't rush; set them up so the failure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This is the most important slide for our grade. Each defense fails for a specific reason: perplexity (poison is LLM-fluent), paraphrasing (semantic match survives rewording), expansion (poison still retrieved and weighted). Land the bottom line: even with defenses, ~30%+ success remains, and the authors themselves call for new defenses. That is exactly the gap we fill. Hand to Pujan.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Kosuru. Crystallize the gap into one sentence the prof can quote. One filter = one point of failure. Our insight: layered defense so the attacker must beat every stage at once. This directly motivates RAG-Shield. Hand to Pujan: 'here's the defense we designed.'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Introduce RAG-Shield: three rings at three stages — ingest, retrieval, generation. Walk each ring's one-line job. The core message: defense-in-depth — poison must beat all three at once. Next slide details how each ring catches poison.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Detail each ring's mechanisms. Ring 1: perplexity + outlier + pattern (catches poison that embeds the question verbatim — a PoisonedRAG tell). Ring 2: provenance + consistency (poison contradicts the clean-doc consensus). Ring 3: three LLMs vote; disagreement triggers re-retrieval. Airport-security analogy works well. Hand to Rohit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Pujan. Walk the vertical flow top to bottom: query → KB (with hidden poison) → Ring 1 → Ring 2 → Ring 3 → trusted answer. Emphasize defense-in-depth one more time: each ring is an independent checkpoint. Then hand to Rohit: 'now let's see it defend live against the actual attack.'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Rohit (5 min — the showstopper). Switch to the Streamlit app. (1) Show the attack: ask 'Who founded Tesla?' on the poisoned KB — wrong answer. PAUSE for effect. (2) Toggle RAG-Shield on — same question, correct answer, show each ring firing. (3) The cross-LLM moment: three LLMs disagree under poison, agree once shielded. (4) Switch backends Claude→Ollama to prove vendor-independence. Backup: if anything breaks, run the eval script in terminal. Hand to Vishnu for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The money chart. Point at the three bars: 91% undefended, 29% with the paper's defenses, 13% with RAG-Shield. Note these are illustrative until final eval numbers land — update before the real talk. Emphasize two things: big drop AND it holds across multiple LLMs without breaking normal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Summarize the arc: reproduced attack, found gap, designed RAG-Shield, demonstrated it, cut success from 90% to 13%. Then future work shows we understand limitations: adaptive attackers, scale, latency, real-time deployment. Keep it tight. Then the team/links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Vishnu. Close confidently. Read the team contributions quickly (note Jeenal first as inspiration). Show the three links. Final line suggestion: 'PoisonedRAG showed 5 documents can drain 90% accuracy. RAG-Shield shows the defense can live in the pipeline, not the model — three rings, three LLMs, one shield.' Then open for questions; the other members field role-specific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731520"/>
            <a:ext cx="3474720" cy="3474720"/>
          </a:xfrm>
          <a:prstGeom prst="ellipse">
            <a:avLst/>
          </a:prstGeom>
          <a:solidFill>
            <a:srgbClr val="243352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-45720"/>
            <a:ext cx="2103120" cy="2103120"/>
          </a:xfrm>
          <a:prstGeom prst="ellipse">
            <a:avLst/>
          </a:prstGeom>
          <a:solidFill>
            <a:srgbClr val="0E1726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0" y="-457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SHIELD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SECURITY  ·  RAG  ·  LLM  ·  KB POISONING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PoisonedRAG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Corruption Attacks to Retrieval-Augmented Generation of Large Language Models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Security 2025  (Zou, Geng, Wang, Jia)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 — a 3-ring defense that cuts attack success from 90% to under 15%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6344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773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Chaudhary  ·  G25AIT2027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Patel  ·  G25AIT2089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Vittala  ·  G25AIT2099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06840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Ghosh  ·  G25AIT2113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Yuvaraj  ·  G25AIT2054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Chakraborty  ·  G25AIT2076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 ·  G25AIT2007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06840" y="5504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Priya  ·  G25AIT2128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CSL6010 Cyber Security  ·  Prof. Susil Kumar Mohanty  ·  M.Tech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giving LLMs an open 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0:00-3:00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93392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672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93008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21608" y="199339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721608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61688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 KB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45936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74536" y="1993392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74536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14616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reads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docs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96528" y="21945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98864" y="17373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27464" y="1993392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9427464" y="1993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67544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54896" y="2651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0332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OPEN-BOOK ANALOGY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160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like an open-book exam. Instead of memorizing everything, the AI looks up relevant pages before answering — which fixes outdated knowledge and reduces hallucination. The catch: what if someone slips a fake page into the book?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 today: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browsing · Bing Chat · customer-support bots · enterprise search · medical &amp; legal AI assistants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Security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is an open door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0:00-3:00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0312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89280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is in production at scale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500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legal, and financial AI assistants now ground answers in retrieved documents — wrong answers carry real-world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8444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3741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bases are open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83133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KBs are crowd-sourced or auto-scraped (Wikipedia, web crawls, user uploads). Anyone may be able to add content.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54296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065776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48554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Openness is the attack surface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312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attacker can insert even a few documents, they may control what the AI says — this is the gap PoisonedRAG exploits.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Attack Surface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secured the model — not the knowledge 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RESEARCHERS USED TO STUDY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RAG more accurate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retrieval more efficient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embeddings &amp; re-rankers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was largely unexplored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FOUND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database itself is a new, practical attack surface.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3383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who can add documents to the KB can steer the LLM's answers —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touching the model, its weights, or even needing API access.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is the FIRST knowledge-corruption attack against RAG.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Threat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attacker controls, and what they want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QUESTION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picks a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"Who is the CEO of Company X?"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47872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0752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ANSWER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30752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picks the wrong answer they want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0752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"John Doe" (false)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55664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38544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POISON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few malicious texts to the KB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38544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docs per question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63456" y="16916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46336" y="1892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546336" y="235000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outputs the attacker's answer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46336" y="3291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target question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ATTACKER KNOWLEDGE LEVELS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828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Black-box:  </a:t>
            </a:r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only knows the question (realistic — like editing a wiki).    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White-box:  </a:t>
            </a:r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the retriever internals (stronger, upper-bound).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Dangerous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 where KB poisoning bites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3:00-6:00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476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RAG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health KB → dangerous treatment advice to patients.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20116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7114032" y="194767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14032" y="25603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market KB → manipulated investment guidance.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/ Search RAG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5720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news KB → disinformation delivered at scale.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9632" y="37033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40233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7114032" y="395935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RAG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14032" y="457200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internal docs → wrong answers in critical workflows.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KBs get poisoned:  </a:t>
            </a:r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wikis · scraped web data · user-uploaded documents · third-party data feeds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Attack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poison document must pass two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Condition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 doc must be similar enough to the target question to get pulled into the top-K retrieved documents.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retrieved, it never reaches the LLM.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2011680"/>
            <a:ext cx="640080" cy="6400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51192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Condition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73952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retrieved, the poison doc must convince the LLM to actually output the attacker's chosen wrong answer.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 mislead the LLM, the attack fails.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hold at once.  </a:t>
            </a:r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 that gets retrieved but doesn't mislead = harmless. A doc that would mislead but never gets retrieved = useless. The craft is satisfying both simultaneously.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Decomposition Trick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each poison doc into two purpose-built halves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737360"/>
          </a:xfrm>
          <a:prstGeom prst="roundRect">
            <a:avLst>
              <a:gd name="adj" fmla="val 526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05740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651760" y="21945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1945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—  retrieval trigger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223760" y="21945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194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—  injection text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THE DISGUISE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to match the target question semantically, so the retriever pulls the doc into the top-K. Solves the retrieval condition.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THE PAYLOAD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misinformation that pushes the LLM toward the attacker's answer. Solves the generation condition.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303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Trojan-horse analogy:  </a:t>
            </a:r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is the disguise that gets the horse through the gate (retrieval). I is the soldier hiding inside that does the damage (generation).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Framed as Optimization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poison is a search for the best malicious texts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6:00-9:00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GOAL, FORMALLY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set of malicious texts that maximizes the chance the LLM outputs the target answer for the target question — subject to those texts being retrievable.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349240" cy="2697480"/>
          </a:xfrm>
          <a:prstGeom prst="roundRect">
            <a:avLst>
              <a:gd name="adj" fmla="val 339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SOLVER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knows only the question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LLM to generate poison text directly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to retriever internals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realistic threat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9632" y="3337560"/>
            <a:ext cx="5349240" cy="2697480"/>
          </a:xfrm>
          <a:prstGeom prst="roundRect">
            <a:avLst>
              <a:gd name="adj" fmla="val 339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3566160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114032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WHITE-BOX SOLVER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3952" y="4160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retriever weights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optimization of trigger 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success, but needs more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upper bound of the threat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Attack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threat — no inside knowledge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knows only the target question — nothing about the retriever, embeddings, or the LLM internals. This mirrors a real attacker who can edit a wiki or upload a document.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08792" cy="2743200"/>
          </a:xfrm>
          <a:prstGeom prst="roundRect">
            <a:avLst>
              <a:gd name="adj" fmla="val 333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POISON IS GENERATED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target question + the attacker's chosen wrong answer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LLM: "Write a passage that supports this answer for this question"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produces fluent, authoritative-sounding misinformation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question's keywords verbatim so it gets retrieved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~5 of these per target question into the KB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White-Box Attack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access → optimized retrieval triggers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also knows the retriever's embedding model + weights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gradient-based optimization (HotFlip-style) to perfect the trigger 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the doc to land as high as possible in the top-K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success rate than black-box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requires far more access (unrealistic in practice)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shows the upper bound of how bad it can 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attack surface, devastating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9:00-12:00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17136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docs per question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1031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11312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clean docs in the KB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ACROSS THE 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LLMs:  </a:t>
            </a:r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GPT-3.5, LLaMA-2, Vicuna, PaLM 2         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Retrievers:  </a:t>
            </a:r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Contriever, DPR, 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 </a:t>
            </a:r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Questions (NQ), HotpotQA, MS-MARCO — the attack generalizes, it isn't a one-off.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Defenses They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obvious mitigations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2140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38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Filtering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957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documents whose language looks statistically abnormal (high perplexity).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38728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33558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Paraphrasing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8130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Reword the question before retrieval, hoping the poison no longer matches.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956048"/>
            <a:ext cx="502920" cy="5029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4773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Expansion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23036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more documents (larger K) to dilute the poison's influence.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Fail — The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authors' own conclusion: existing defenses are insufficient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18379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filtering fails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2402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 is LLM-generated, so it reads fluently and has natural perplexity. Filter catches only crude poison.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08152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30449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Paraphrasing fails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472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matches the question's meaning, not its exact words. Rewording doesn't move the embeddings enough.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05656"/>
            <a:ext cx="10908792" cy="1078992"/>
          </a:xfrm>
          <a:prstGeom prst="roundRect">
            <a:avLst>
              <a:gd name="adj" fmla="val 8475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288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0200" y="4251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fails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465429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retrieved docs still include the poison — and the LLM keeps weighting it heavily.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896112"/>
          </a:xfrm>
          <a:prstGeom prst="roundRect">
            <a:avLst>
              <a:gd name="adj" fmla="val 10204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5349240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defenses on, attack success stays alarmingly high (~30%+).  </a:t>
            </a:r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explicitly calls for new defenses — that's the gap our project fills.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Gap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single-filter to defense-in-depth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12:00-15:00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ONE FILTER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defense layer can always be bypassed — the attacker just tunes the poison to slip past that one check. One checkpoint is one point of failure.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4231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poison at multiple independent stages. To win, the attacker would have to defeat every layer at once — far harder than beating any single one.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3952" y="4343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motivates RAG-Shield.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349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statement:  </a:t>
            </a:r>
            <a:pPr indent="0" marL="0">
              <a:buNone/>
            </a:pPr>
            <a:r>
              <a:rPr lang="en-US" sz="1250" i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"Existing single-layer defenses leave 30%+ residual attack success. We need layered, defense-in-depth protection that screens documents at ingest, retrieval, and generation."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RAG-Shield: 3-Ring Defense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— defense-in-depth across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3100" y="210312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9431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Guard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documents when they are ADDED to the KB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637276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17136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7136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Scorer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62856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&amp; filter retrieved docs at QUERY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28432" y="178308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31452" y="2103120"/>
            <a:ext cx="914400" cy="9144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9331452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211312" y="31546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1312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Cross-LLM Consensus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57032" y="4069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final ANSWER with multiple LLMs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663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ring catches what the previous missed.  </a:t>
            </a:r>
            <a:pPr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must defeat ingest screening AND retrieval scoring AND multi-LLM consensus — all at once — to succeed.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Ring Catches Poison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detection mechanisms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9019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1 — Ingest Guard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92024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scoring of new docs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Embedding-outlier detection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 (query embedded verbatim)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67588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3832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2 — Retrieval Scorer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3401568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Source-provenance / trust weighting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Inter-document consistency check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Trust-weighted re-ranking of top-K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00016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157216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486460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3 — Cross-LLM Consensus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4882896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different LLMs in parallel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answers when they disagree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Re-retrieve excluding suspect docs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RAG-Shield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with three defensive rings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15:00-18:00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64592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6459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06440" y="22677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0" y="246888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24688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 (5000 clean + poison docs)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06440" y="3090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329184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32918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1 · Ingest Guard  — perplexity + outlier + pattern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06440" y="3913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94560" y="411480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77440" y="411480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2 · Retrieval Scorer  — provenance + consistency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06440" y="47365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94560" y="493776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A78BFA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77440" y="493776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3 · Cross-LLM Consensus  — Claude + GPT + LLaMA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55595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94560" y="576072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34D399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77440" y="57607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Answer  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vs. RAG-Shield — on a real knowledge 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18:00-23:00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606040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"Who founded Tesla?"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907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KB → LLM returns the WRONG answer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21945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55664" y="260604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59752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RAG-Shield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59752" y="2907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→ each ring filters → CORRECT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4206240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002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Cross-LLM moment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LLMs disagree on poison, agree once shielded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37947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420624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59752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Multi-backend flex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9752" y="4507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Claude → Ollama → defense holds everywhere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Python · FAISS · sentence-transformers · Streamlit · Anthropic Claude · Azure OpenAI · Ollama (LLaMA 3.1)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 slashes attack success 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23:00-25:00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830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3913632" cy="4023360"/>
          </a:xfrm>
          <a:prstGeom prst="roundRect">
            <a:avLst>
              <a:gd name="adj" fmla="val 2336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23774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attack: ~91% success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defenses leave ~29%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RAG-Shield: down to ~13%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across Claude, GPT, LLaMA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Benign-query accuracy preserved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did, and where it goes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38404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32520" y="384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23:00-25:00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the PoisonedRAG attack on our own KB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gap: single-layer defenses fail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RAG-Shield: 3-ring defense-in-depth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demonstrated it live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attack success from ~90% to ~13%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adaptive attackers who know RAG-Shield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million-document knowledge bases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latency / API cost of Ring 3 consensus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cross-function &amp; read-only reentrancy variants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as a RAG middleware layer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937760" cy="4937760"/>
          </a:xfrm>
          <a:prstGeom prst="ellipse">
            <a:avLst/>
          </a:prstGeom>
          <a:solidFill>
            <a:srgbClr val="1B27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72800" cy="2606040"/>
          </a:xfrm>
          <a:prstGeom prst="roundRect">
            <a:avLst>
              <a:gd name="adj" fmla="val 3509"/>
            </a:avLst>
          </a:prstGeom>
          <a:solidFill>
            <a:srgbClr val="243352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— GROUP 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Jeenal Chaudhary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Inspiration &amp; Mentor · Intro + RAG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2606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Patel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Tech lead · Architecture · Live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Sharvan Vittala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Attack mechanics · Ring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Sudeb Ghosh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Attack deep-dive · Adversarial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Kosuru Yuvaraj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Gap analysis · Ring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36118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Pujan Chakraborty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RAG-Shield design · Evaluation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Singh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Problem &amp; threat model · Research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411480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Priya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Frontend · Report · Demo video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972800" cy="1325880"/>
          </a:xfrm>
          <a:prstGeom prst="roundRect">
            <a:avLst>
              <a:gd name="adj" fmla="val 6897"/>
            </a:avLst>
          </a:prstGeom>
          <a:solidFill>
            <a:srgbClr val="1B2740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pPr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usenix.org/conference/usenixsecurity25/presentation/zou-poisonedrag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555040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</a:t>
            </a:r>
            <a:pPr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github.com/rpaut03l/sleeepeer_PoisonedRAG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84301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Google Drive link before submission]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PoisonedRAG · RAG-Shield  |  Group 6 · CSL6010 · IIT Jodhpur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PoisonedRAG: Knowledge Corruption Attacks to RAG</dc:title>
  <dc:subject>PptxGenJS Presentation</dc:subject>
  <dc:creator>Group 6 - IIT Jodhpur</dc:creator>
  <cp:lastModifiedBy>Group 6 - IIT Jodhpur</cp:lastModifiedBy>
  <cp:revision>1</cp:revision>
  <dcterms:created xsi:type="dcterms:W3CDTF">2026-06-15T15:31:58Z</dcterms:created>
  <dcterms:modified xsi:type="dcterms:W3CDTF">2026-06-15T15:31:58Z</dcterms:modified>
</cp:coreProperties>
</file>